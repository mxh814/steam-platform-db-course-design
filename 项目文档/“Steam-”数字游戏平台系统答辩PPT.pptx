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老师好，我们是第4组。本项目是部署在腾讯云、使用Oracle数据库的“Steam-”数字游戏平台。下面介绍业务、架构、数据库、核心事务和工程验证，之后演示真实系统。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平台面向玩家、开发商和管理员，并用两款真实游戏组织数据。</a:t>
            </a:r>
            <a:r>
              <a:rPr lang="zh-CN">
                <a:ea typeface="宋体" panose="02010600030101010101" pitchFamily="2" charset="-122"/>
              </a:rPr>
              <a:t>一款是</a:t>
            </a:r>
            <a:r>
              <a:t>DST是《饥荒联机版》，用于演示付费购买、退款、CDKey游戏兑换码和社区。</a:t>
            </a:r>
            <a:r>
              <a:rPr lang="zh-CN">
                <a:ea typeface="宋体" panose="02010600030101010101" pitchFamily="2" charset="-122"/>
              </a:rPr>
              <a:t>另一款是</a:t>
            </a:r>
            <a:r>
              <a:t>CS2，用于演示免费入库、饰品库存和市场交易。这些跨角色业务体现实用性和复杂性，右侧是</a:t>
            </a:r>
            <a:r>
              <a:rPr lang="zh-CN">
                <a:ea typeface="宋体" panose="02010600030101010101" pitchFamily="2" charset="-122"/>
              </a:rPr>
              <a:t>真实的</a:t>
            </a:r>
            <a:r>
              <a:t>云端页面。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系统采用B/S，即浏览器和服务器架构。浏览器经HTTPS和Nginx进入.NET 10 API，再通过Dapper和ODP.NET访问Oracle。后端五层是Api、Application、Domain、Infrastructure和Shared，职责分离，保证总体设计清晰并便于扩展。Oracle的1521端口仅服务器内部可达。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配图是核心交易关系E-R图，展示玩家、订单、支付、退款、钱包、游戏、开发商和管理员之间的主要联系。Oracle共有45张表、45个主码、49个显式索引和224项约束定义。数据库遵循第三范式，即同一事实只保存一处，例如钱包余额只在WALLET_ACCOUNT。订单、支付、退款和授权分别建模，再用外码、唯一约束和检查约束保证一致性，命名也统一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购买先用幂等键防止重复订单，再锁定钱包并校验余额，在同一事务写入订单、支付、流水和授权。退款则回补钱包、关闭订单、撤销授权并记录审计。任何一步失败都会整体回滚，保证功能完整性和鲁棒性。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饰品市场为每件物品建立唯一实例。买单冻结资金，卖单锁定物品，系统按价格和时间优先撮合。成交事务完成扣款、入账、手续费、过户和账本记录，防止重复出售；模板与实例分离也便于扩展资产类型。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开发商维护游戏和兑换码，管理员审核上架、公告和退款，玩家购买或兑换后参与社区与市场，形成完整闭环。前端按角色显示菜单，后端再读取JWT登录令牌校验身份，真正阻止越权。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界面参考Steam的导航和深色风格，并使用项目自己的标识。商店、详情、媒体画廊、游戏库和市场都接入真实API；按钮具有加载、成功、失败和禁用状态，兼顾界面美观与可用性。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代码按业务模块组织，并遵守五层职责。数据库访问全部使用参数化SQL，避免注入；统一命名、异常映射和CancellationToken体现编码规范。接口与依赖注入降低耦合，便于测试和扩展。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当前主干381项Release测试及前端生产构建全部通过，28条Playwright用例覆盖主要流程，GitHub Actions持续检查。腾讯云API和Oracle健康检查均为OK，恢复工具保证演示可重复。三份课程文档按模板完成，并与代码和实际系统一致。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综上，项目在实用性、复杂性、总体与数据库设计、功能完整性、界面、编码规范、鲁棒性、扩展性和文档质量上都有可验证证据。下面进入腾讯云系统演示。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验收脚本以只读方式检查主码覆盖和关键业务的跨表一致性。并发更新使用SELECT FOR UPDATE锁定钱包行，第二会话必须等待第一会话提交或回滚，避免余额覆盖。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十名组员按功能模块并行开发。普通成员通过功能分支和Pull Request，经审查与CI后合并；数据库迁移还检查破坏性、幂等性、兼容性和回滚方案。私钥不进入Git，历史文件保存在_archive目录。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以上是项目汇报。系统持续运行在腾讯云，数据库可重复验收，演示数据可恢复。请老师提问。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21296" r="2129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8">
              <a:alpha val="74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6858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14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76375"/>
            <a:ext cx="9096375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“Steam-”数字游戏发行与玩家社区</a:t>
            </a:r>
            <a:endParaRPr sz="36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buNone/>
              <a:defRPr sz="36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互动平台数据库系统设计</a:t>
            </a:r>
            <a:endParaRPr sz="36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619500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CFEA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FEA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B/S 架构，C# / .NET 10 后端，Oracle 数据库，Vue 3 前端</a:t>
            </a:r>
            <a:endParaRPr sz="1800" b="0">
              <a:solidFill>
                <a:srgbClr val="CFEA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524375"/>
            <a:ext cx="6238875" cy="19050"/>
          </a:xfrm>
          <a:prstGeom prst="rect">
            <a:avLst/>
          </a:prstGeom>
          <a:solidFill>
            <a:srgbClr val="FFFFFF">
              <a:alpha val="28000"/>
            </a:srgbClr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76250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第4组    组长：马祥珲（2451753）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51816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同济大学　2026年9月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239250" y="61531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正式系统已部署至腾讯云</a:t>
            </a:r>
            <a:endParaRPr sz="1200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业务范围与应用场景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90625"/>
            <a:ext cx="5143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平台围绕玩家、开发商和管理员组织完整业务</a:t>
            </a:r>
            <a:endParaRPr sz="2025" b="1">
              <a:solidFill>
                <a:srgbClr val="DC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210502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019300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玩家：购买、入库、退款、评价、社交、饰品交易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70510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619375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开发商：管理自己的游戏和CDKey，数据相互隔离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330517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219450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管理员：审核游戏和退款，发布公告并查看操作记录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3905250"/>
            <a:ext cx="66675" cy="66675"/>
          </a:xfrm>
          <a:prstGeom prst="rect">
            <a:avLst/>
          </a:prstGeom>
          <a:solidFill>
            <a:srgbClr val="E56B6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819525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DST演示购买退款，CS2演示饰品交易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4857750"/>
            <a:ext cx="1476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32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5372100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数据表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90750" y="4857750"/>
            <a:ext cx="1381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2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90750" y="5372100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用户角色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14750" y="4857750"/>
            <a:ext cx="1381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2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14750" y="5372100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演示游戏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rcRect l="12194" r="12194"/>
          <a:stretch>
            <a:fillRect/>
          </a:stretch>
        </p:blipFill>
        <p:spPr>
          <a:xfrm>
            <a:off x="5762625" y="1219200"/>
            <a:ext cx="5876925" cy="437197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5762625" y="1219200"/>
            <a:ext cx="5876925" cy="43719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762625" y="5715000"/>
            <a:ext cx="58769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腾讯云商店首页：页面加载后显示公告弹窗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矩形 56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系统部署与后端分层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71575"/>
            <a:ext cx="857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浏览器通过 Web 入口访问系统，Oracle 数据库不开放公网端口</a:t>
            </a:r>
            <a:endParaRPr sz="172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2038350"/>
            <a:ext cx="1428750" cy="628650"/>
          </a:xfrm>
          <a:prstGeom prst="roundRect">
            <a:avLst>
              <a:gd name="adj" fmla="val 9091"/>
            </a:avLst>
          </a:prstGeom>
          <a:solidFill>
            <a:srgbClr val="23384A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105025"/>
            <a:ext cx="1276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381250" y="2038350"/>
            <a:ext cx="1524000" cy="628650"/>
          </a:xfrm>
          <a:prstGeom prst="roundRect">
            <a:avLst>
              <a:gd name="adj" fmla="val 9091"/>
            </a:avLst>
          </a:prstGeom>
          <a:solidFill>
            <a:srgbClr val="1F4D68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57450" y="2105025"/>
            <a:ext cx="1371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248150" y="2038350"/>
            <a:ext cx="1619250" cy="628650"/>
          </a:xfrm>
          <a:prstGeom prst="roundRect">
            <a:avLst>
              <a:gd name="adj" fmla="val 9091"/>
            </a:avLst>
          </a:prstGeom>
          <a:solidFill>
            <a:srgbClr val="245A76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324350" y="2105025"/>
            <a:ext cx="14668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ASP.NET Core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API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10300" y="2038350"/>
            <a:ext cx="1809750" cy="628650"/>
          </a:xfrm>
          <a:prstGeom prst="roundRect">
            <a:avLst>
              <a:gd name="adj" fmla="val 9091"/>
            </a:avLst>
          </a:prstGeom>
          <a:solidFill>
            <a:srgbClr val="347088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2105025"/>
            <a:ext cx="1657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Application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Domain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62950" y="2038350"/>
            <a:ext cx="1714500" cy="628650"/>
          </a:xfrm>
          <a:prstGeom prst="roundRect">
            <a:avLst>
              <a:gd name="adj" fmla="val 9091"/>
            </a:avLst>
          </a:prstGeom>
          <a:solidFill>
            <a:srgbClr val="4E5A2B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39150" y="2105025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3660"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数据访问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Dapper / ODP.NET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420350" y="2038350"/>
            <a:ext cx="1428750" cy="628650"/>
          </a:xfrm>
          <a:prstGeom prst="roundRect">
            <a:avLst>
              <a:gd name="adj" fmla="val 9091"/>
            </a:avLst>
          </a:prstGeom>
          <a:solidFill>
            <a:srgbClr val="62451F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496550" y="2105025"/>
            <a:ext cx="1276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26ai Free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2095500" y="2219325"/>
            <a:ext cx="228600" cy="238125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7" name="右箭头 16"/>
          <p:cNvSpPr>
            <a:spLocks noGrp="1"/>
          </p:cNvSpPr>
          <p:nvPr/>
        </p:nvSpPr>
        <p:spPr>
          <a:xfrm>
            <a:off x="3962400" y="2219325"/>
            <a:ext cx="228600" cy="238125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5924550" y="2219325"/>
            <a:ext cx="228600" cy="238125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8077200" y="2219325"/>
            <a:ext cx="228600" cy="238125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10134600" y="2219325"/>
            <a:ext cx="228600" cy="238125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476750" y="3114675"/>
            <a:ext cx="4238625" cy="2667000"/>
          </a:xfrm>
          <a:prstGeom prst="roundRect">
            <a:avLst>
              <a:gd name="adj" fmla="val 2857"/>
            </a:avLst>
          </a:prstGeom>
          <a:solidFill>
            <a:srgbClr val="101A24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14875" y="32956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后端五层</a:t>
            </a:r>
            <a:endParaRPr sz="165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14875" y="3733800"/>
            <a:ext cx="1381125" cy="285750"/>
          </a:xfrm>
          <a:prstGeom prst="roundRect">
            <a:avLst>
              <a:gd name="adj" fmla="val 13333"/>
            </a:avLst>
          </a:prstGeom>
          <a:solidFill>
            <a:srgbClr val="2A83B8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91075" y="3762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05550" y="3762375"/>
            <a:ext cx="2143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接收请求、验证身份</a:t>
            </a:r>
            <a:endParaRPr sz="1200" b="0">
              <a:solidFill>
                <a:srgbClr val="C8D6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714875" y="4114800"/>
            <a:ext cx="1381125" cy="285750"/>
          </a:xfrm>
          <a:prstGeom prst="roundRect">
            <a:avLst>
              <a:gd name="adj" fmla="val 13333"/>
            </a:avLst>
          </a:prstGeom>
          <a:solidFill>
            <a:srgbClr val="357A93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791075" y="4143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Application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05550" y="4143375"/>
            <a:ext cx="2143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组织业务流程</a:t>
            </a:r>
            <a:endParaRPr sz="1200" b="0">
              <a:solidFill>
                <a:srgbClr val="C8D6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714875" y="4495800"/>
            <a:ext cx="1381125" cy="285750"/>
          </a:xfrm>
          <a:prstGeom prst="roundRect">
            <a:avLst>
              <a:gd name="adj" fmla="val 13333"/>
            </a:avLst>
          </a:prstGeom>
          <a:solidFill>
            <a:srgbClr val="467B59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791075" y="4524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Domain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05550" y="4524375"/>
            <a:ext cx="2143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定义实体和业务规则</a:t>
            </a:r>
            <a:endParaRPr sz="1200" b="0">
              <a:solidFill>
                <a:srgbClr val="C8D6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4714875" y="4876800"/>
            <a:ext cx="1381125" cy="285750"/>
          </a:xfrm>
          <a:prstGeom prst="roundRect">
            <a:avLst>
              <a:gd name="adj" fmla="val 13333"/>
            </a:avLst>
          </a:prstGeom>
          <a:solidFill>
            <a:srgbClr val="71612C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91075" y="4905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Infrastructure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05550" y="4905375"/>
            <a:ext cx="2143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SQL 和事务</a:t>
            </a:r>
            <a:endParaRPr sz="1200" b="0">
              <a:solidFill>
                <a:srgbClr val="C8D6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714875" y="5257800"/>
            <a:ext cx="1381125" cy="285750"/>
          </a:xfrm>
          <a:prstGeom prst="roundRect">
            <a:avLst>
              <a:gd name="adj" fmla="val 13333"/>
            </a:avLst>
          </a:prstGeom>
          <a:solidFill>
            <a:srgbClr val="5E4D77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791075" y="5286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305550" y="5286375"/>
            <a:ext cx="2143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8D6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处理公共响应和异常</a:t>
            </a:r>
            <a:endParaRPr sz="1200" b="0">
              <a:solidFill>
                <a:srgbClr val="C8D6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71500" y="335280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腾讯云服务器</a:t>
            </a:r>
            <a:endParaRPr sz="18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71500" y="4019550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42950" y="3933825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Ubuntu 22.04 LTS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71500" y="445770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42950" y="4371975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.NET 10 + Kestrel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71500" y="4895850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42950" y="481012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Nginx托管前端并转发API请求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71500" y="5334000"/>
            <a:ext cx="66675" cy="66675"/>
          </a:xfrm>
          <a:prstGeom prst="rect">
            <a:avLst/>
          </a:prstGeom>
          <a:solidFill>
            <a:srgbClr val="E56B6F"/>
          </a:solidFill>
          <a:ln w="0">
            <a:noFill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42950" y="5248275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HTTPS访问，HTTP自动跳转</a:t>
            </a:r>
            <a:endParaRPr sz="150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058275" y="331470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8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058275" y="3981450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229725" y="3895725"/>
            <a:ext cx="23526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公网仅开放22、80、443端口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058275" y="447675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229725" y="4391025"/>
            <a:ext cx="2352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94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1521端口仅服务器内部可访问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058275" y="5067300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229725" y="4981575"/>
            <a:ext cx="2495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94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JWT校验玩家、开发商和管理员身份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数据模型与规范化设计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457200" y="1200150"/>
            <a:ext cx="7858125" cy="4810125"/>
          </a:xfrm>
          <a:prstGeom prst="roundRect">
            <a:avLst>
              <a:gd name="adj" fmla="val 198"/>
            </a:avLst>
          </a:prstGeom>
          <a:solidFill>
            <a:srgbClr val="F4F8FB"/>
          </a:solidFill>
          <a:ln w="9525">
            <a:solidFill>
              <a:srgbClr val="2C4659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4710"/>
            <a:ext cx="7858125" cy="446100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57200" y="1200150"/>
            <a:ext cx="7858125" cy="481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C4659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1314450"/>
            <a:ext cx="2333625" cy="266700"/>
          </a:xfrm>
          <a:prstGeom prst="roundRect">
            <a:avLst>
              <a:gd name="adj" fmla="val 14286"/>
            </a:avLst>
          </a:prstGeom>
          <a:solidFill>
            <a:srgbClr val="071018">
              <a:alpha val="78000"/>
            </a:srgbClr>
          </a:solidFill>
          <a:ln w="0">
            <a:noFill/>
          </a:ln>
        </p:spPr>
        <p:txBody>
          <a:bodyPr wrap="square" lIns="76200" tIns="38100" rIns="76200" bIns="38100" anchor="t">
            <a:normAutofit fontScale="87583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配图：核心交易关系 E-R 图</a:t>
            </a:r>
            <a:endParaRPr sz="12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0" y="13811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/ 45</a:t>
            </a:r>
            <a:endParaRPr sz="32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0" y="189547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数据表均有主码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0" y="23336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32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0" y="284797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显式索引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0" y="32861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</a:t>
            </a:r>
            <a:endParaRPr sz="32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0" y="380047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约束定义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763000" y="4219575"/>
            <a:ext cx="2667000" cy="0"/>
          </a:xfrm>
          <a:prstGeom prst="line">
            <a:avLst/>
          </a:prstGeom>
          <a:noFill/>
          <a:ln w="9525">
            <a:solidFill>
              <a:srgbClr val="36546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0" y="45243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34450" y="4438650"/>
            <a:ext cx="25431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钱包余额统一存放在WALLET_ACCOUNT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0" y="501015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34450" y="4924425"/>
            <a:ext cx="25431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订单、支付、退款和游戏授权分别建表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549592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5410200"/>
            <a:ext cx="2590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外码、唯一约束和检查约束保证数据一致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购买和退款事务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8110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购买会同时更新钱包、订单、支付记录和游戏库</a:t>
            </a:r>
            <a:endParaRPr sz="18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79070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17907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检查幂等键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12407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防止重复点击产生重复订单</a:t>
            </a:r>
            <a:endParaRPr sz="120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800100" y="2190750"/>
            <a:ext cx="0" cy="381000"/>
          </a:xfrm>
          <a:prstGeom prst="line">
            <a:avLst/>
          </a:prstGeom>
          <a:noFill/>
          <a:ln w="19050">
            <a:solidFill>
              <a:srgbClr val="41637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5717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2571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锁定钱包记录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9051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... FOR UPDATE</a:t>
            </a:r>
            <a:endParaRPr sz="120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800100" y="2971800"/>
            <a:ext cx="0" cy="381000"/>
          </a:xfrm>
          <a:prstGeom prst="line">
            <a:avLst/>
          </a:prstGeom>
          <a:noFill/>
          <a:ln w="19050">
            <a:solidFill>
              <a:srgbClr val="41637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335280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3528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写入订单记录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68617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订单、明细、支付和状态日志</a:t>
            </a:r>
            <a:endParaRPr sz="120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800100" y="3752850"/>
            <a:ext cx="0" cy="381000"/>
          </a:xfrm>
          <a:prstGeom prst="line">
            <a:avLst/>
          </a:prstGeom>
          <a:noFill/>
          <a:ln w="19050">
            <a:solidFill>
              <a:srgbClr val="41637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41338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41338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写入游戏授权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43000" y="44672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支付成功后加入游戏库</a:t>
            </a:r>
            <a:endParaRPr sz="120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00100" y="4533900"/>
            <a:ext cx="0" cy="381000"/>
          </a:xfrm>
          <a:prstGeom prst="line">
            <a:avLst/>
          </a:prstGeom>
          <a:noFill/>
          <a:ln w="19050">
            <a:solidFill>
              <a:srgbClr val="41637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491490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87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43000" y="49149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提交事务</a:t>
            </a:r>
            <a:endParaRPr sz="15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524827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任一操作失败则整体回滚</a:t>
            </a:r>
            <a:endParaRPr sz="120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953000" y="1647825"/>
            <a:ext cx="6667500" cy="3238500"/>
          </a:xfrm>
          <a:prstGeom prst="roundRect">
            <a:avLst>
              <a:gd name="adj" fmla="val 2059"/>
            </a:avLst>
          </a:prstGeom>
          <a:solidFill>
            <a:srgbClr val="071018"/>
          </a:solidFill>
          <a:ln w="9525">
            <a:solidFill>
              <a:srgbClr val="2E526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124450" y="1762125"/>
            <a:ext cx="6324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CoreTransactionService.cs 中的 BuyGameAsync</a:t>
            </a:r>
            <a:endParaRPr sz="1050" b="1">
              <a:solidFill>
                <a:srgbClr val="66C0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24450" y="2057400"/>
            <a:ext cx="63246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var existing = await FindOrderByIdempotencyAsync(...);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(existing is not null)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EnsureSamePurchaseRequest(existing, ...);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275"/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await using var tx = await connection.BeginTransactionAsync(...);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var wallet = await LoadWalletForUpdateAsync(connection, tx, userId, ...);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(wallet.AvailableBalance &lt; payable)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throw new BusinessRuleException("INSUFFICIENT_BALANCE", ...);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275"/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await tx.CommitAsync(cancellationToken);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catch: RollbackAsync(...)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953000" y="5143500"/>
            <a:ext cx="6667500" cy="819150"/>
          </a:xfrm>
          <a:prstGeom prst="roundRect">
            <a:avLst>
              <a:gd name="adj" fmla="val 6977"/>
            </a:avLst>
          </a:prstGeom>
          <a:solidFill>
            <a:srgbClr val="172532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162550" y="5257800"/>
            <a:ext cx="6248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管理员批准退款后，系统在同一事务中退回余额、关闭订单、撤销游戏授权，并记录审核结果和钱包流水。</a:t>
            </a:r>
            <a:endParaRPr sz="1425" b="1">
              <a:solidFill>
                <a:srgbClr val="DC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饰品市场的撮合与过户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476250" y="1257300"/>
            <a:ext cx="6905625" cy="38862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476250" y="1257300"/>
            <a:ext cx="6905625" cy="3886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5267325"/>
            <a:ext cx="6905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腾讯云上的 CS2 社区市场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58125" y="12573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撮合规则</a:t>
            </a:r>
            <a:endParaRPr sz="19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58125" y="18954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29575" y="1809750"/>
            <a:ext cx="3448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买单先冻结相应金额，卖单先锁定物品实例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58125" y="240030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29575" y="2314575"/>
            <a:ext cx="3448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卖单按低价和时间排序，买单按高价和时间排序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58125" y="300037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29575" y="2914650"/>
            <a:ext cx="3448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实际成交价采用卖单价格，平台收取5%手续费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3600450"/>
            <a:ext cx="66675" cy="66675"/>
          </a:xfrm>
          <a:prstGeom prst="rect">
            <a:avLst/>
          </a:prstGeom>
          <a:solidFill>
            <a:srgbClr val="E56B6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29575" y="3514725"/>
            <a:ext cx="3448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资金结算、物品过户和成交记录在同一事务完成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858125" y="4238625"/>
            <a:ext cx="3762375" cy="1581150"/>
          </a:xfrm>
          <a:prstGeom prst="roundRect">
            <a:avLst>
              <a:gd name="adj" fmla="val 4217"/>
            </a:avLst>
          </a:prstGeom>
          <a:solidFill>
            <a:srgbClr val="071018"/>
          </a:solidFill>
          <a:ln w="9525">
            <a:solidFill>
              <a:srgbClr val="2E526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29575" y="4352925"/>
            <a:ext cx="34194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MarketRepository.cs 中的撮合排序和行锁</a:t>
            </a:r>
            <a:endParaRPr sz="1050" b="1">
              <a:solidFill>
                <a:srgbClr val="66C0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9575" y="4648200"/>
            <a:ext cx="341947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7731"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ORDER BY s.target_price ASC,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b.target_price DESC,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s.create_time ASC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275"/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SELECT ... FROM INVENTORY_ITEM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WHERE item_id = :ItemId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UPDATE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三类用户的业务流程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219200"/>
            <a:ext cx="3381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开发商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0063" r="10063"/>
          <a:stretch>
            <a:fillRect/>
          </a:stretch>
        </p:blipFill>
        <p:spPr>
          <a:xfrm>
            <a:off x="552450" y="1695450"/>
            <a:ext cx="3381375" cy="23812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552450" y="1695450"/>
            <a:ext cx="3381375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276725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维护游戏，生成 CDKey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各开发商数据相互隔离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52450" y="5162550"/>
            <a:ext cx="3381375" cy="0"/>
          </a:xfrm>
          <a:prstGeom prst="line">
            <a:avLst/>
          </a:prstGeom>
          <a:noFill/>
          <a:ln w="28575">
            <a:solidFill>
              <a:srgbClr val="66C0F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391025" y="1219200"/>
            <a:ext cx="3381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</a:t>
            </a:r>
            <a:endParaRPr sz="187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rcRect l="10063" r="10063"/>
          <a:stretch>
            <a:fillRect/>
          </a:stretch>
        </p:blipFill>
        <p:spPr>
          <a:xfrm>
            <a:off x="4391025" y="1695450"/>
            <a:ext cx="3381375" cy="23812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4391025" y="1695450"/>
            <a:ext cx="3381375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91025" y="4276725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审核游戏和退款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发布公告，查看操作记录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4391025" y="5162550"/>
            <a:ext cx="3381375" cy="0"/>
          </a:xfrm>
          <a:prstGeom prst="line">
            <a:avLst/>
          </a:prstGeom>
          <a:noFill/>
          <a:ln w="28575">
            <a:solidFill>
              <a:srgbClr val="F4B94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29600" y="1219200"/>
            <a:ext cx="3381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</a:t>
            </a:r>
            <a:endParaRPr sz="187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l="10063" r="10063"/>
          <a:stretch>
            <a:fillRect/>
          </a:stretch>
        </p:blipFill>
        <p:spPr>
          <a:xfrm>
            <a:off x="8229600" y="1695450"/>
            <a:ext cx="3381375" cy="23812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8229600" y="1695450"/>
            <a:ext cx="3381375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29600" y="4276725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购买、兑换和游戏库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社区互动及饰品交易</a:t>
            </a:r>
            <a:endParaRPr sz="14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229600" y="5162550"/>
            <a:ext cx="3381375" cy="0"/>
          </a:xfrm>
          <a:prstGeom prst="line">
            <a:avLst/>
          </a:prstGeom>
          <a:noFill/>
          <a:ln w="28575">
            <a:solidFill>
              <a:srgbClr val="8BC53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52450" y="5514975"/>
            <a:ext cx="11087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C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开发商提交游戏，管理员审核发布，玩家购买并参与社区和市场交易。</a:t>
            </a:r>
            <a:endParaRPr sz="1800" b="1">
              <a:solidFill>
                <a:srgbClr val="DC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主要页面与交互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6250" y="1238250"/>
            <a:ext cx="6858000" cy="3857625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476250" y="1238250"/>
            <a:ext cx="6858000" cy="38576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4724400"/>
            <a:ext cx="6858000" cy="371475"/>
          </a:xfrm>
          <a:prstGeom prst="rect">
            <a:avLst/>
          </a:prstGeom>
          <a:solidFill>
            <a:srgbClr val="071018">
              <a:alpha val="88000"/>
            </a:srgbClr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791075"/>
            <a:ext cx="647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游戏详情：播放预告片、浏览截图、购买本体和内容包</a:t>
            </a:r>
            <a:endParaRPr sz="12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rcRect t="53" b="53"/>
          <a:stretch>
            <a:fillRect/>
          </a:stretch>
        </p:blipFill>
        <p:spPr>
          <a:xfrm>
            <a:off x="7667625" y="1238250"/>
            <a:ext cx="4000500" cy="22479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667625" y="1238250"/>
            <a:ext cx="40005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67625" y="3133725"/>
            <a:ext cx="4000500" cy="352425"/>
          </a:xfrm>
          <a:prstGeom prst="rect">
            <a:avLst/>
          </a:prstGeom>
          <a:solidFill>
            <a:srgbClr val="071018">
              <a:alpha val="88000"/>
            </a:srgbClr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0" y="320040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商店首页：启动公告、搜索和分类筛选</a:t>
            </a:r>
            <a:endParaRPr sz="11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53" b="53"/>
          <a:stretch>
            <a:fillRect/>
          </a:stretch>
        </p:blipFill>
        <p:spPr>
          <a:xfrm>
            <a:off x="7667625" y="3733800"/>
            <a:ext cx="4000500" cy="22479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7667625" y="3733800"/>
            <a:ext cx="40005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D637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67625" y="5629275"/>
            <a:ext cx="4000500" cy="352425"/>
          </a:xfrm>
          <a:prstGeom prst="rect">
            <a:avLst/>
          </a:prstGeom>
          <a:solidFill>
            <a:srgbClr val="071018">
              <a:alpha val="88000"/>
            </a:srgbClr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0" y="56959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游戏库：筛选游戏并查看游玩状态</a:t>
            </a:r>
            <a:endParaRPr sz="11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代码组织与实现规范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71575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代码先按业务模块划分，再按后端五层明确职责</a:t>
            </a:r>
            <a:endParaRPr sz="18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52450" y="1781175"/>
            <a:ext cx="1714500" cy="457200"/>
          </a:xfrm>
          <a:prstGeom prst="roundRect">
            <a:avLst>
              <a:gd name="adj" fmla="val 10417"/>
            </a:avLst>
          </a:prstGeom>
          <a:solidFill>
            <a:srgbClr val="2A83B8"/>
          </a:solidFill>
          <a:ln w="9525">
            <a:solidFill>
              <a:srgbClr val="55758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38175" y="1838325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15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476500" y="18478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8E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C9D8E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Features 下按业务模块放置接口</a:t>
            </a:r>
            <a:endParaRPr sz="1350" b="0">
              <a:solidFill>
                <a:srgbClr val="C9D8E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2466975"/>
            <a:ext cx="1714500" cy="457200"/>
          </a:xfrm>
          <a:prstGeom prst="roundRect">
            <a:avLst>
              <a:gd name="adj" fmla="val 10417"/>
            </a:avLst>
          </a:prstGeom>
          <a:solidFill>
            <a:srgbClr val="357A93"/>
          </a:solidFill>
          <a:ln w="9525">
            <a:solidFill>
              <a:srgbClr val="55758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38175" y="2524125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Application</a:t>
            </a:r>
            <a:endParaRPr sz="15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76500" y="25336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接口契约、服务和输入校验</a:t>
            </a:r>
            <a:endParaRPr sz="1350" b="0">
              <a:solidFill>
                <a:srgbClr val="C9D8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52450" y="3152775"/>
            <a:ext cx="1714500" cy="457200"/>
          </a:xfrm>
          <a:prstGeom prst="roundRect">
            <a:avLst>
              <a:gd name="adj" fmla="val 10417"/>
            </a:avLst>
          </a:prstGeom>
          <a:solidFill>
            <a:srgbClr val="467B59"/>
          </a:solidFill>
          <a:ln w="9525">
            <a:solidFill>
              <a:srgbClr val="55758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" y="3209925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Domain</a:t>
            </a:r>
            <a:endParaRPr sz="15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76500" y="32194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实体和业务规则</a:t>
            </a:r>
            <a:endParaRPr sz="1350" b="0">
              <a:solidFill>
                <a:srgbClr val="C9D8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52450" y="3838575"/>
            <a:ext cx="1714500" cy="457200"/>
          </a:xfrm>
          <a:prstGeom prst="roundRect">
            <a:avLst>
              <a:gd name="adj" fmla="val 10417"/>
            </a:avLst>
          </a:prstGeom>
          <a:solidFill>
            <a:srgbClr val="71612C"/>
          </a:solidFill>
          <a:ln w="9525">
            <a:solidFill>
              <a:srgbClr val="55758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" y="3895725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Infrastructure</a:t>
            </a:r>
            <a:endParaRPr sz="15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76500" y="39052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8E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C9D8E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仓储、Dapper SQL 和 Oracle 事务</a:t>
            </a:r>
            <a:endParaRPr sz="1350" b="0">
              <a:solidFill>
                <a:srgbClr val="C9D8E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52450" y="4524375"/>
            <a:ext cx="1714500" cy="457200"/>
          </a:xfrm>
          <a:prstGeom prst="roundRect">
            <a:avLst>
              <a:gd name="adj" fmla="val 10417"/>
            </a:avLst>
          </a:prstGeom>
          <a:solidFill>
            <a:srgbClr val="5E4D77"/>
          </a:solidFill>
          <a:ln w="9525">
            <a:solidFill>
              <a:srgbClr val="55758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8175" y="4581525"/>
            <a:ext cx="1543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</a:t>
            </a:r>
            <a:endParaRPr sz="15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76500" y="45910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8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统一响应、异常和公共类型</a:t>
            </a:r>
            <a:endParaRPr sz="1350" b="0">
              <a:solidFill>
                <a:srgbClr val="C9D8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38875" y="1571625"/>
            <a:ext cx="5381625" cy="2857500"/>
          </a:xfrm>
          <a:prstGeom prst="roundRect">
            <a:avLst>
              <a:gd name="adj" fmla="val 2333"/>
            </a:avLst>
          </a:prstGeom>
          <a:solidFill>
            <a:srgbClr val="071018"/>
          </a:solidFill>
          <a:ln w="9525">
            <a:solidFill>
              <a:srgbClr val="2E526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10325" y="1685925"/>
            <a:ext cx="5038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DependencyInjection.cs 中的依赖注入配置</a:t>
            </a:r>
            <a:endParaRPr sz="1050" b="1">
              <a:solidFill>
                <a:srgbClr val="66C0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10325" y="1981200"/>
            <a:ext cx="5038725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services.AddSingleton&lt;IDbConnectionFactory,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OracleDbConnectionFactory&gt;();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services.AddScoped&lt;ICoreTransactionService,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CoreTransactionService&gt;();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services.AddScoped&lt;IMarketRepository,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MarketRepository&gt;();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services.AddScoped&lt;ISocialService,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SocialService&gt;();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services.AddScoped&lt;IDatabaseHealthProbe,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OracleDatabaseHealthProbe&gt;();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38875" y="4810125"/>
            <a:ext cx="1571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endParaRPr sz="32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38875" y="5324475"/>
            <a:ext cx="1571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C# 源代码文件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020050" y="4810125"/>
            <a:ext cx="12858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32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20050" y="5324475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组件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72625" y="481012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32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72625" y="53244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模块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38875" y="5781675"/>
            <a:ext cx="538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442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各模块统一使用参数化 SQL、CancellationToken、异常映射和依赖注入。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测试、部署与文档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5255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381 / 381</a:t>
            </a:r>
            <a:endParaRPr sz="32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8669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Release 模式下的 xUnit 测试全部通过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0" y="135255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32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91000" y="18669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Playwright 端到端测试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0" y="1352550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32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0" y="186690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最近5次 CI 构建成功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52450" y="2352675"/>
            <a:ext cx="11087100" cy="0"/>
          </a:xfrm>
          <a:prstGeom prst="line">
            <a:avLst/>
          </a:prstGeom>
          <a:noFill/>
          <a:ln w="9525">
            <a:solidFill>
              <a:srgbClr val="36546B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52450" y="2771775"/>
            <a:ext cx="2238375" cy="1257300"/>
          </a:xfrm>
          <a:prstGeom prst="roundRect">
            <a:avLst>
              <a:gd name="adj" fmla="val 5303"/>
            </a:avLst>
          </a:prstGeom>
          <a:solidFill>
            <a:srgbClr val="23384A"/>
          </a:solidFill>
          <a:ln w="9525">
            <a:solidFill>
              <a:srgbClr val="4A6B8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924175"/>
            <a:ext cx="1895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本地开发</a:t>
            </a:r>
            <a:endParaRPr sz="15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314700"/>
            <a:ext cx="18954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Release 构建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数据库脚本静态检查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867025" y="3257550"/>
            <a:ext cx="400050" cy="22860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362325" y="2771775"/>
            <a:ext cx="2238375" cy="1257300"/>
          </a:xfrm>
          <a:prstGeom prst="roundRect">
            <a:avLst>
              <a:gd name="adj" fmla="val 5303"/>
            </a:avLst>
          </a:prstGeom>
          <a:solidFill>
            <a:srgbClr val="214B63"/>
          </a:solidFill>
          <a:ln w="9525">
            <a:solidFill>
              <a:srgbClr val="4A6B8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33775" y="2924175"/>
            <a:ext cx="1895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endParaRPr sz="15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33775" y="3314700"/>
            <a:ext cx="18954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代码格式检查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后端测试与前端构建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5676900" y="3257550"/>
            <a:ext cx="400050" cy="22860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72200" y="2771775"/>
            <a:ext cx="2238375" cy="1257300"/>
          </a:xfrm>
          <a:prstGeom prst="roundRect">
            <a:avLst>
              <a:gd name="adj" fmla="val 5303"/>
            </a:avLst>
          </a:prstGeom>
          <a:solidFill>
            <a:srgbClr val="375B38"/>
          </a:solidFill>
          <a:ln w="9525">
            <a:solidFill>
              <a:srgbClr val="4A6B8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2924175"/>
            <a:ext cx="1895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腾讯云服务器</a:t>
            </a:r>
            <a:endParaRPr sz="15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43650" y="3314700"/>
            <a:ext cx="18954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 和 .NET 10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容器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486775" y="3257550"/>
            <a:ext cx="400050" cy="22860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982075" y="2771775"/>
            <a:ext cx="2238375" cy="1257300"/>
          </a:xfrm>
          <a:prstGeom prst="roundRect">
            <a:avLst>
              <a:gd name="adj" fmla="val 5303"/>
            </a:avLst>
          </a:prstGeom>
          <a:solidFill>
            <a:srgbClr val="665022"/>
          </a:solidFill>
          <a:ln w="9525">
            <a:solidFill>
              <a:srgbClr val="4A6B8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53525" y="2924175"/>
            <a:ext cx="1895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公网检查</a:t>
            </a:r>
            <a:endParaRPr sz="1500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53525" y="3314700"/>
            <a:ext cx="18954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运行正常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数据库运行正常</a:t>
            </a:r>
            <a:endParaRPr sz="127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454342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已完成三份正式文档</a:t>
            </a:r>
            <a:endParaRPr sz="17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0958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010150"/>
            <a:ext cx="33051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系统需求分析：用例、流程和业务规则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095750" y="5095875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267200" y="5010150"/>
            <a:ext cx="3733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数据库设计：E-R图、关系模式和约束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43875" y="509587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15325" y="5010150"/>
            <a:ext cx="335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系统设计与实现：实际架构、界面和核心代码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2450" y="5953125"/>
            <a:ext cx="11087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2026年9月10日验收：API 和 Oracle 数据库运行正常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项目完成情况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552450" y="1428750"/>
            <a:ext cx="3238500" cy="3619500"/>
          </a:xfrm>
          <a:prstGeom prst="roundRect">
            <a:avLst>
              <a:gd name="adj" fmla="val 2059"/>
            </a:avLst>
          </a:prstGeom>
          <a:solidFill>
            <a:srgbClr val="142331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428750"/>
            <a:ext cx="3238500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75260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已实现业务</a:t>
            </a:r>
            <a:endParaRPr sz="18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24100"/>
            <a:ext cx="2781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3类用户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81050" y="3076575"/>
            <a:ext cx="2781300" cy="0"/>
          </a:xfrm>
          <a:prstGeom prst="line">
            <a:avLst/>
          </a:prstGeom>
          <a:noFill/>
          <a:ln w="9525">
            <a:solidFill>
              <a:srgbClr val="35506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4194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333375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930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游戏提交、审核和购买流程已经打通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943350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3857625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购买、退款和CDKey兑换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46722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438150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社区、成就、库存和市场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171950" y="1428750"/>
            <a:ext cx="3238500" cy="3619500"/>
          </a:xfrm>
          <a:prstGeom prst="roundRect">
            <a:avLst>
              <a:gd name="adj" fmla="val 2059"/>
            </a:avLst>
          </a:prstGeom>
          <a:solidFill>
            <a:srgbClr val="142331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71950" y="1428750"/>
            <a:ext cx="3238500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175260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数据库</a:t>
            </a:r>
            <a:endParaRPr sz="187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2324100"/>
            <a:ext cx="2781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45张表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400550" y="3076575"/>
            <a:ext cx="2781300" cy="0"/>
          </a:xfrm>
          <a:prstGeom prst="line">
            <a:avLst/>
          </a:prstGeom>
          <a:noFill/>
          <a:ln w="9525">
            <a:solidFill>
              <a:srgbClr val="35506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00550" y="34194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572000" y="333375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符合第三范式并设置完整约束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00550" y="3943350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72000" y="3857625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事务、幂等控制和行级锁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00550" y="446722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572000" y="438150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流水记录钱包、订单和饰品变动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91450" y="1428750"/>
            <a:ext cx="3238500" cy="3619500"/>
          </a:xfrm>
          <a:prstGeom prst="roundRect">
            <a:avLst>
              <a:gd name="adj" fmla="val 2059"/>
            </a:avLst>
          </a:prstGeom>
          <a:solidFill>
            <a:srgbClr val="142331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1428750"/>
            <a:ext cx="3238500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20050" y="175260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工程与部署</a:t>
            </a:r>
            <a:endParaRPr sz="187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20050" y="2324100"/>
            <a:ext cx="2781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381项测试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020050" y="3076575"/>
            <a:ext cx="2781300" cy="0"/>
          </a:xfrm>
          <a:prstGeom prst="line">
            <a:avLst/>
          </a:prstGeom>
          <a:noFill/>
          <a:ln w="9525">
            <a:solidFill>
              <a:srgbClr val="35506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20050" y="34194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91500" y="333375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五层C#后端，Vue 3前端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20050" y="3943350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91500" y="3857625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部署到腾讯云并启用HTTPS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020050" y="446722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91500" y="4381500"/>
            <a:ext cx="2609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完整课程文档及数据恢复脚本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52450" y="5429250"/>
            <a:ext cx="10477500" cy="609600"/>
          </a:xfrm>
          <a:prstGeom prst="roundRect">
            <a:avLst>
              <a:gd name="adj" fmla="val 9375"/>
            </a:avLst>
          </a:prstGeom>
          <a:solidFill>
            <a:srgbClr val="173B50"/>
          </a:solidFill>
          <a:ln w="9525">
            <a:solidFill>
              <a:srgbClr val="4A7B9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5572125"/>
            <a:ext cx="1002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E5F3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5F3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下面打开腾讯云上的正式系统，依次演示开发商、管理员和玩家的操作。</a:t>
            </a:r>
            <a:endParaRPr sz="1575" b="1">
              <a:solidFill>
                <a:srgbClr val="E5F3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矩形 45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备用页：数据库验收与并发控制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72625" y="428625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答疑备用</a:t>
            </a:r>
            <a:endParaRPr sz="12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52450" y="1333500"/>
            <a:ext cx="4000500" cy="4476750"/>
          </a:xfrm>
          <a:prstGeom prst="roundRect">
            <a:avLst>
              <a:gd name="adj" fmla="val 1667"/>
            </a:avLst>
          </a:prstGeom>
          <a:solidFill>
            <a:srgbClr val="13222E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6192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数据库验收结果</a:t>
            </a:r>
            <a:endParaRPr sz="18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152650"/>
            <a:ext cx="1666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/ 45</a:t>
            </a:r>
            <a:endParaRPr sz="3150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6670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数据表均有主码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05100" y="215265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315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667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显式索引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00100" y="3124200"/>
            <a:ext cx="3238500" cy="0"/>
          </a:xfrm>
          <a:prstGeom prst="line">
            <a:avLst/>
          </a:prstGeom>
          <a:noFill/>
          <a:ln w="9525">
            <a:solidFill>
              <a:srgbClr val="35506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34575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3371850"/>
            <a:ext cx="2971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检查数据表、主码、索引和约束状态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3971925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3886200"/>
            <a:ext cx="2971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核对订单、退款、钱包和授权是否一致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448627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4400550"/>
            <a:ext cx="2971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核对市场订单、成交记录和物品归属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5000625"/>
            <a:ext cx="66675" cy="66675"/>
          </a:xfrm>
          <a:prstGeom prst="rect">
            <a:avLst/>
          </a:prstGeom>
          <a:solidFill>
            <a:srgbClr val="E56B6F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4914900"/>
            <a:ext cx="2971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验收脚本只读，不改变演示数据</a:t>
            </a:r>
            <a:endParaRPr sz="1350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953000" y="1333500"/>
            <a:ext cx="6686550" cy="4476750"/>
          </a:xfrm>
          <a:prstGeom prst="roundRect">
            <a:avLst>
              <a:gd name="adj" fmla="val 1489"/>
            </a:avLst>
          </a:prstGeom>
          <a:solidFill>
            <a:srgbClr val="101A24"/>
          </a:solidFill>
          <a:ln w="9525">
            <a:solidFill>
              <a:srgbClr val="36546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19700" y="16192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两个会话同时修改钱包</a:t>
            </a:r>
            <a:endParaRPr sz="180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19700" y="226695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A</a:t>
            </a:r>
            <a:endParaRPr sz="1350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191250" y="2143125"/>
            <a:ext cx="1428750" cy="514350"/>
          </a:xfrm>
          <a:prstGeom prst="roundRect">
            <a:avLst>
              <a:gd name="adj" fmla="val 9259"/>
            </a:avLst>
          </a:prstGeom>
          <a:solidFill>
            <a:srgbClr val="315C3E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05550" y="227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sz="12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7715250" y="2276475"/>
            <a:ext cx="285750" cy="22860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96250" y="2143125"/>
            <a:ext cx="1809750" cy="514350"/>
          </a:xfrm>
          <a:prstGeom prst="roundRect">
            <a:avLst>
              <a:gd name="adj" fmla="val 9259"/>
            </a:avLst>
          </a:prstGeom>
          <a:solidFill>
            <a:srgbClr val="2A5269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91500" y="2200275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...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UPDATE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10001250" y="2276475"/>
            <a:ext cx="285750" cy="22860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10382250" y="2143125"/>
            <a:ext cx="990600" cy="514350"/>
          </a:xfrm>
          <a:prstGeom prst="roundRect">
            <a:avLst>
              <a:gd name="adj" fmla="val 9259"/>
            </a:avLst>
          </a:prstGeom>
          <a:solidFill>
            <a:srgbClr val="6C5520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458450" y="2276475"/>
            <a:ext cx="838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219700" y="306705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B</a:t>
            </a:r>
            <a:endParaRPr sz="1350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191250" y="2943225"/>
            <a:ext cx="1809750" cy="514350"/>
          </a:xfrm>
          <a:prstGeom prst="roundRect">
            <a:avLst>
              <a:gd name="adj" fmla="val 9259"/>
            </a:avLst>
          </a:prstGeom>
          <a:solidFill>
            <a:srgbClr val="2A5269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000375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...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UPDATE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8096250" y="3076575"/>
            <a:ext cx="285750" cy="228600"/>
          </a:xfrm>
          <a:prstGeom prst="rightArrow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8477250" y="2943225"/>
            <a:ext cx="1238250" cy="514350"/>
          </a:xfrm>
          <a:prstGeom prst="roundRect">
            <a:avLst>
              <a:gd name="adj" fmla="val 9259"/>
            </a:avLst>
          </a:prstGeom>
          <a:solidFill>
            <a:srgbClr val="674C24"/>
          </a:solidFill>
          <a:ln w="9525">
            <a:solidFill>
              <a:srgbClr val="8B6A3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572500" y="3076575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等待锁</a:t>
            </a:r>
            <a:endParaRPr sz="127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9810750" y="3076575"/>
            <a:ext cx="285750" cy="228600"/>
          </a:xfrm>
          <a:prstGeom prst="rightArrow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191750" y="2943225"/>
            <a:ext cx="1181100" cy="514350"/>
          </a:xfrm>
          <a:prstGeom prst="roundRect">
            <a:avLst>
              <a:gd name="adj" fmla="val 9259"/>
            </a:avLst>
          </a:prstGeom>
          <a:solidFill>
            <a:srgbClr val="315C3E"/>
          </a:solidFill>
          <a:ln w="9525">
            <a:solidFill>
              <a:srgbClr val="5B809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287000" y="3076575"/>
            <a:ext cx="990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继续执行</a:t>
            </a:r>
            <a:endParaRPr sz="120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219700" y="3857625"/>
            <a:ext cx="6153150" cy="1314450"/>
          </a:xfrm>
          <a:prstGeom prst="roundRect">
            <a:avLst>
              <a:gd name="adj" fmla="val 5072"/>
            </a:avLst>
          </a:prstGeom>
          <a:solidFill>
            <a:srgbClr val="071018"/>
          </a:solidFill>
          <a:ln w="9525">
            <a:solidFill>
              <a:srgbClr val="2E526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91150" y="3971925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6C0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Oracle行级锁语句</a:t>
            </a:r>
            <a:endParaRPr sz="1050" b="1">
              <a:solidFill>
                <a:srgbClr val="66C0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91150" y="4267200"/>
            <a:ext cx="5810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SELECT available_balance, frozen_balance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FROM wallet_account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WHERE user_id = :UserId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0">
                <a:solidFill>
                  <a:srgbClr val="D7E7F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UPDATE;</a:t>
            </a:r>
            <a:endParaRPr sz="1275" b="0">
              <a:solidFill>
                <a:srgbClr val="D7E7F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219700" y="5314950"/>
            <a:ext cx="6153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会话B等待会话A提交或回滚，防止两次扣款互相覆盖。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数据库课程设计答辩（备用页）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552450" y="3619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备用页：团队协作与质量检查</a:t>
            </a:r>
            <a:endParaRPr sz="28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990600"/>
            <a:ext cx="838200" cy="4762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72625" y="428625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答疑备用</a:t>
            </a:r>
            <a:endParaRPr sz="127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144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3225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828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组员按功能分组并行开发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81450" y="131445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187</a:t>
            </a:r>
            <a:endParaRPr sz="3225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81450" y="18288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提交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0" y="131445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68"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4B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370</a:t>
            </a:r>
            <a:endParaRPr sz="3225" b="1">
              <a:solidFill>
                <a:srgbClr val="F4B9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143750" y="18288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纳入版本管理的文件</a:t>
            </a:r>
            <a:endParaRPr sz="1275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52450" y="2333625"/>
            <a:ext cx="11087100" cy="0"/>
          </a:xfrm>
          <a:prstGeom prst="line">
            <a:avLst/>
          </a:prstGeom>
          <a:noFill/>
          <a:ln w="9525">
            <a:solidFill>
              <a:srgbClr val="36546B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5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23384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功能分支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066925" y="3219450"/>
            <a:ext cx="266700" cy="20955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400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23384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76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Pull Request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3971925" y="3219450"/>
            <a:ext cx="266700" cy="20955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05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23384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381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代码和数据库审查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5876925" y="3219450"/>
            <a:ext cx="266700" cy="20955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10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23384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 构建与测试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7781925" y="3219450"/>
            <a:ext cx="266700" cy="20955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8115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23384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91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合并到 main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9686925" y="3219450"/>
            <a:ext cx="266700" cy="209550"/>
          </a:xfrm>
          <a:prstGeom prst="rightArrow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0020300" y="2990850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405A2A"/>
          </a:solidFill>
          <a:ln w="9525">
            <a:solidFill>
              <a:srgbClr val="4D718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096500" y="3105150"/>
            <a:ext cx="1371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部署到腾讯云</a:t>
            </a:r>
            <a:endParaRPr sz="13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43529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合并要求</a:t>
            </a:r>
            <a:endParaRPr sz="1725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4943475"/>
            <a:ext cx="66675" cy="66675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485775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普通成员不能直接推送main，PR中的问题解决后才能合并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05500" y="4943475"/>
            <a:ext cx="66675" cy="66675"/>
          </a:xfrm>
          <a:prstGeom prst="rect">
            <a:avLst/>
          </a:prstGeom>
          <a:solidFill>
            <a:srgbClr val="8BC53F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76950" y="4857750"/>
            <a:ext cx="5162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数据库脚本需检查破坏性、重复执行、版本兼容和回滚方案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2450" y="5514975"/>
            <a:ext cx="66675" cy="66675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3900" y="542925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代码统一使用UTF-8，私钥不提交，_archive保留早期成果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905500" y="5514975"/>
            <a:ext cx="66675" cy="66675"/>
          </a:xfrm>
          <a:prstGeom prst="rect">
            <a:avLst/>
          </a:prstGeom>
          <a:solidFill>
            <a:srgbClr val="E56B6F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76950" y="5429250"/>
            <a:ext cx="5162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每个文件指定主要负责人，答辩问题能够快速定位</a:t>
            </a:r>
            <a:endParaRPr sz="1425" b="0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552450" y="6486525"/>
            <a:ext cx="11087100" cy="0"/>
          </a:xfrm>
          <a:prstGeom prst="line">
            <a:avLst/>
          </a:prstGeom>
          <a:noFill/>
          <a:ln w="9525">
            <a:solidFill>
              <a:srgbClr val="29415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数据库课程设计答辩（备用页）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144250" y="65532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187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75" b="0">
              <a:solidFill>
                <a:srgbClr val="7187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21296" r="2129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8">
              <a:alpha val="78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066800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4F7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</a:t>
            </a:r>
            <a:endParaRPr sz="4050" b="1">
              <a:solidFill>
                <a:srgbClr val="F4F7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885950"/>
            <a:ext cx="1047750" cy="57150"/>
          </a:xfrm>
          <a:prstGeom prst="rect">
            <a:avLst/>
          </a:prstGeom>
          <a:solidFill>
            <a:srgbClr val="66C0F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400300"/>
            <a:ext cx="857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DD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DD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系统已部署，数据库可现场检查，演示数据可一键恢复</a:t>
            </a:r>
            <a:endParaRPr sz="2325" b="1">
              <a:solidFill>
                <a:srgbClr val="DD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36766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6C0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云端系统</a:t>
            </a:r>
            <a:endParaRPr sz="1350" b="1">
              <a:solidFill>
                <a:srgbClr val="66C0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0195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F4F7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F4F7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https://124.222.213.245</a:t>
            </a:r>
            <a:endParaRPr sz="1650" b="0">
              <a:solidFill>
                <a:srgbClr val="F4F7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0" y="36766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BC5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项目仓库</a:t>
            </a:r>
            <a:endParaRPr sz="1350" b="1">
              <a:solidFill>
                <a:srgbClr val="8BC5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0" y="401955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F4F7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F4F7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MXH814/steam-platform-db-course-design</a:t>
            </a:r>
            <a:endParaRPr sz="1575" b="0">
              <a:solidFill>
                <a:srgbClr val="F4F7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340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7B5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第4组</a:t>
            </a:r>
            <a:endParaRPr sz="1350" b="0">
              <a:solidFill>
                <a:srgbClr val="A7B5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amCourse">
  <a:themeElements>
    <a:clrScheme name="Steam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eam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eamCourse">
  <a:themeElements>
    <a:clrScheme name="Steam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eam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3690</Words>
  <Application>WPS 演示</Application>
  <PresentationFormat>Converted Presentation</PresentationFormat>
  <Paragraphs>504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“Steam-”数字游戏平台系统答辩</dc:title>
  <dc:creator>数据库课程设计第4组</dc:creator>
  <cp:lastModifiedBy>马祥珲</cp:lastModifiedBy>
  <cp:revision>1</cp:revision>
  <dcterms:created xsi:type="dcterms:W3CDTF">2026-09-11T08:09:36Z</dcterms:created>
  <dcterms:modified xsi:type="dcterms:W3CDTF">2026-09-11T08:09:36Z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FF810B8725E24F909F8897491718FD7F_12</vt:lpwstr>
  </property>
  <property fmtid="{D5CDD505-2E9C-101B-9397-08002B2CF9AE}" pid="3" name="KSOProductBuildVer">
    <vt:lpwstr>2052-12.1.0.28043</vt:lpwstr>
  </property>
</Properties>
</file>